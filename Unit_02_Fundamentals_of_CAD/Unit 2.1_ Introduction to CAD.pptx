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</p:sldIdLst>
  <p:sldSz cy="5143500" cx="9144000"/>
  <p:notesSz cx="6858000" cy="9144000"/>
  <p:embeddedFontLst>
    <p:embeddedFont>
      <p:font typeface="Roboto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Roboto-bold.fntdata"/><Relationship Id="rId47" Type="http://schemas.openxmlformats.org/officeDocument/2006/relationships/font" Target="fonts/Roboto-regular.fntdata"/><Relationship Id="rId49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0" Type="http://schemas.openxmlformats.org/officeDocument/2006/relationships/font" Target="fonts/Robo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72a832b74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72a832b74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72a832b74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72a832b74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72a832b74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72a832b74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888857ff39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888857ff39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72a832b74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72a832b74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2a832b74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2a832b74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88857ff39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88857ff3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c322897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c322897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8c322897d4_1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8c322897d4_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c322897d4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c322897d4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88857ff3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88857ff3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88857ff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88857ff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888857ff39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888857ff3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88857ff3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88857ff3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88857ff3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88857ff3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88857ff3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888857ff3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88857ff39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88857ff39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88857ff3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88857ff3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888857ff3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888857ff3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fde1d0c5098a448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fde1d0c5098a448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2fde1d0c5098a448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2fde1d0c5098a448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2fde1d0c5098a448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fde1d0c5098a448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fde1d0c5098a448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fde1d0c5098a448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fde1d0c5098a448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fde1d0c5098a448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8176cae98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38176cae98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8176cae98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8176cae98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8176cae986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8176cae98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176cae98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176cae98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76cae98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76cae98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8176cae98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38176cae98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8176cae986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38176cae986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8176cae98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8176cae98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8176cae98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8176cae98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8176cae986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8176cae986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38176cae98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38176cae98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8176cae98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8176cae98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8176cae986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8176cae986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8176cae986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8176cae986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8176cae986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8176cae986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8176cae986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8176cae986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fusion.online.autodesk.com/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www.youtube.com/playlist?list=PLrZ2zKOtC_-C4rWfapgngoe9o2-ng8ZBr" TargetMode="External"/><Relationship Id="rId4" Type="http://schemas.openxmlformats.org/officeDocument/2006/relationships/hyperlink" Target="https://www.youtube.com/watch?v=d3qGQ2utl2A" TargetMode="External"/><Relationship Id="rId5" Type="http://schemas.openxmlformats.org/officeDocument/2006/relationships/hyperlink" Target="https://www.youtube.com/watch?v=DfAfxae8aRc" TargetMode="External"/><Relationship Id="rId6" Type="http://schemas.openxmlformats.org/officeDocument/2006/relationships/hyperlink" Target="https://www.youtube.com/watch?v=ZReXmjT42DM" TargetMode="External"/><Relationship Id="rId7" Type="http://schemas.openxmlformats.org/officeDocument/2006/relationships/hyperlink" Target="https://www.youtube.com/watch?v=9Y-3W-Pr64U" TargetMode="Externa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www.youtube.com/watch?v=7lJmkTSoWLc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9.png"/><Relationship Id="rId4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8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hyperlink" Target="https://www.google.com/search?sca_esv=cc2c3cd950dba5e5&amp;rlz=1C1UEAD_enUS991US991&amp;q=Standard+Tessellation+Language&amp;sa=X&amp;ved=2ahUKEwjx5sOWkOuPAxWZ1vACHbjXCc8QxccNegQIMBAB&amp;mstk=AUtExfDDI5aAXrmNPK4KdOv-h2HQHieyplhKrcLIo6S3XAb8uWY5phiJUsMvQx9IcnPeoNVR-boP1fYMkFyTfXNDUv7vl8WdES49hKCz_MmHywZXvOPw_mdq857TMPfxs4Emt2M0pghsvEztt-OtSct3_OJkMNRU5ZmLObzKQxBuJwW--ys&amp;csui=3" TargetMode="Externa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7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2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8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25.png"/><Relationship Id="rId4" Type="http://schemas.openxmlformats.org/officeDocument/2006/relationships/hyperlink" Target="https://www.youtube.com/playlist?list=PLrZ2zKOtC_-C4rWfapgngoe9o2-ng8ZBr" TargetMode="External"/><Relationship Id="rId5" Type="http://schemas.openxmlformats.org/officeDocument/2006/relationships/hyperlink" Target="https://www.youtube.com/watch?v=AfeCRrYsAys" TargetMode="External"/><Relationship Id="rId6" Type="http://schemas.openxmlformats.org/officeDocument/2006/relationships/hyperlink" Target="https://www.youtube.com/watch?v=Mv54UfwYYos" TargetMode="External"/><Relationship Id="rId7" Type="http://schemas.openxmlformats.org/officeDocument/2006/relationships/hyperlink" Target="https://www.youtube.com/watch?v=o5rcAv7xVUo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hyperlink" Target="https://www.youtube.com/playlist?list=PLrZ2zKOtC_-C4rWfapgngoe9o2-ng8ZBr" TargetMode="External"/><Relationship Id="rId4" Type="http://schemas.openxmlformats.org/officeDocument/2006/relationships/hyperlink" Target="https://www.youtube.com/watch?v=2YaMulL4dZY" TargetMode="External"/><Relationship Id="rId5" Type="http://schemas.openxmlformats.org/officeDocument/2006/relationships/hyperlink" Target="https://www.youtube.com/watch?v=BUH3WiUjMXw" TargetMode="External"/><Relationship Id="rId6" Type="http://schemas.openxmlformats.org/officeDocument/2006/relationships/hyperlink" Target="https://www.youtube.com/watch?v=YsXaCmKEV-g" TargetMode="External"/><Relationship Id="rId7" Type="http://schemas.openxmlformats.org/officeDocument/2006/relationships/hyperlink" Target="https://www.youtube.com/watch?v=kj3_doWX2Kg" TargetMode="Externa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2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363" y="801163"/>
            <a:ext cx="8829274" cy="41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230825" y="42175"/>
            <a:ext cx="8539200" cy="75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Available CAD Solutions</a:t>
            </a:r>
            <a:endParaRPr sz="30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532650" y="445025"/>
            <a:ext cx="8078700" cy="140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Learning Fusion 360 From Scratch: A Beginner's Guide</a:t>
            </a:r>
            <a:endParaRPr sz="3000"/>
          </a:p>
        </p:txBody>
      </p:sp>
      <p:pic>
        <p:nvPicPr>
          <p:cNvPr id="68" name="Google Shape;68;p15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8399" y="2084291"/>
            <a:ext cx="8647200" cy="2873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Set Up - Fusion 360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4153800" cy="203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chemeClr val="dk1"/>
                </a:solidFill>
              </a:rPr>
              <a:t>Fusion 360 Accounts</a:t>
            </a:r>
            <a:br>
              <a:rPr b="1" lang="en" sz="1600">
                <a:solidFill>
                  <a:schemeClr val="dk1"/>
                </a:solidFill>
              </a:rPr>
            </a:br>
            <a:endParaRPr b="1"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600">
                <a:solidFill>
                  <a:schemeClr val="dk1"/>
                </a:solidFill>
              </a:rPr>
              <a:t>Open Fusion 360 desktop version and login with your school email</a:t>
            </a:r>
            <a:endParaRPr sz="23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Safety Brief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No shop tools today—avoid sharp pencils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Keep workspace tidy (5S: Sort, Set in order)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Avoid kicking wires under the desk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Report any technical issues to instructor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Fusion 360 Interface Tour</a:t>
            </a:r>
            <a:endParaRPr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Launch Screen: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Overview: Welcome screen with recent files and new project options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Action: Click "New Design from Scratch" to start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Main Workspace: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System Tools (File menu, save, undo/redo)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Canvas: 3D modeling area (center) where sketches and models appear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Toolbar: 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Top level tabs (e.g., Solid, Surface, Mesh)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Secondary level groups (e.g., Create, Modify, Constraints)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lphaLcPeriod"/>
            </a:pPr>
            <a:r>
              <a:rPr lang="en" sz="1300">
                <a:solidFill>
                  <a:schemeClr val="dk1"/>
                </a:solidFill>
              </a:rPr>
              <a:t>Tools (e.g., Line, Rectangle, Circle, and contents of dropdown)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Browser: Left panel showing design history, bodies, and components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Fusion 360 Interface Tour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Navigation Tools: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ViewCube: Top-right corner to rotate view (click faces or edges)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Orbit/Pan/Zoom: Middle mouse button or toolbar icons for navigation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Tip: Hold Shift + middle mouse for orbit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Timeline: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Bottom area tracking design steps (editable history)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Use: Click steps to revisit or edit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00">
                <a:solidFill>
                  <a:schemeClr val="dk1"/>
                </a:solidFill>
              </a:rPr>
              <a:t>Quick Tips: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Hover over icons for tooltips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Use F5–F8 for view presets (e.g., F5 for top view)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</a:rPr>
              <a:t>Ask for help if lost!</a:t>
            </a:r>
            <a:endParaRPr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Fusion 360 Preferences</a:t>
            </a:r>
            <a:endParaRPr/>
          </a:p>
        </p:txBody>
      </p:sp>
      <p:sp>
        <p:nvSpPr>
          <p:cNvPr id="98" name="Google Shape;98;p20"/>
          <p:cNvSpPr txBox="1"/>
          <p:nvPr>
            <p:ph idx="1" type="body"/>
          </p:nvPr>
        </p:nvSpPr>
        <p:spPr>
          <a:xfrm>
            <a:off x="311700" y="1152475"/>
            <a:ext cx="4599300" cy="330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Click on your account settings icon, and </a:t>
            </a:r>
            <a:r>
              <a:rPr lang="en">
                <a:solidFill>
                  <a:schemeClr val="dk1"/>
                </a:solidFill>
              </a:rPr>
              <a:t>select preferences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Reverse Zoom Direction if desired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Change Pan, Zoom, Orbit shortcuts if desired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99" name="Google Shape;9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46438" y="1508125"/>
            <a:ext cx="2276475" cy="270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Fusion 360 Preferences</a:t>
            </a:r>
            <a:endParaRPr/>
          </a:p>
        </p:txBody>
      </p:sp>
      <p:pic>
        <p:nvPicPr>
          <p:cNvPr id="105" name="Google Shape;1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6000" y="2447975"/>
            <a:ext cx="8463374" cy="263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75" y="1183875"/>
            <a:ext cx="2996566" cy="111226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21"/>
          <p:cNvSpPr/>
          <p:nvPr/>
        </p:nvSpPr>
        <p:spPr>
          <a:xfrm>
            <a:off x="1089125" y="1609075"/>
            <a:ext cx="1516200" cy="442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1"/>
          <p:cNvSpPr/>
          <p:nvPr/>
        </p:nvSpPr>
        <p:spPr>
          <a:xfrm>
            <a:off x="3235675" y="2387200"/>
            <a:ext cx="3379500" cy="26325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39300" y="152400"/>
            <a:ext cx="1089459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399" y="152400"/>
            <a:ext cx="127411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Guide to Making Constrained Sketches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What Are Constrained Sketches?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Sketches where geometry is fully defined (black lines in Fusion 360)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Prevents unwanted changes with parametric editing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</a:rPr>
              <a:t>Why It Matters:</a:t>
            </a:r>
            <a:endParaRPr b="1"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Ensures accuracy in engineering designs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Ties to EDP "Plan" step (precise planning)</a:t>
            </a:r>
            <a:endParaRPr sz="27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Steps to Create Constrained Sketches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70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Step 1: Start a New Sketch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Open Fusion 360 &gt; Create &gt; Sketch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a plane (e.g., XY plane)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Step 2: Draw Basic Shapes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 tools: Line, Rectangle, Circle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chemeClr val="dk1"/>
                </a:solidFill>
              </a:rPr>
              <a:t>Step 3: Apply Geometric Constraints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Horizontal/Vertical: Align lines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Parallel/Perpendicular: Match angles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Tangent: Connect curves to lines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Equal: Match lengths or radii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Tip: Right-click to add constraints</a:t>
            </a:r>
            <a:endParaRPr sz="2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Steps to Create Constrained Sketches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4: Add Dimensions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Click Dimension tool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Set lengths, angles, or radii (e.g., 50 mm)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Edit to test parametric changes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500">
                <a:solidFill>
                  <a:schemeClr val="dk1"/>
                </a:solidFill>
              </a:rPr>
              <a:t>Step 5: Verify Full Constraint</a:t>
            </a:r>
            <a:endParaRPr b="1"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Look for black lines (fully defined)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Blue lines indicate under-constrained areas</a:t>
            </a:r>
            <a:endParaRPr sz="22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/>
              <a:t>Example: Draw a rectangle with mounting holes for a cover plate</a:t>
            </a:r>
            <a:endParaRPr b="1" sz="3500"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chemeClr val="dk1"/>
                </a:solidFill>
              </a:rPr>
              <a:t>Example: Draw a rectangle with mounting holes for a cover plate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Open new sketch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Draw a rectangle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lphaLcPeriod"/>
            </a:pPr>
            <a:r>
              <a:rPr lang="en">
                <a:solidFill>
                  <a:schemeClr val="dk1"/>
                </a:solidFill>
              </a:rPr>
              <a:t>Add dimensions during draw or add them after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eriod"/>
            </a:pPr>
            <a:r>
              <a:rPr lang="en">
                <a:solidFill>
                  <a:schemeClr val="dk1"/>
                </a:solidFill>
              </a:rPr>
              <a:t>Start rectangle at origin to constrain to origin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rectangle tool again and change line type to construction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Dimension each line from the outer rectangle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Cntrl + Z until dimensions and inner rectangle are gone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Offset Tool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Create offset from first rectangle of -10mm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/>
              <a:t>Example: Draw a rectangle with mounting holes for a cover plate</a:t>
            </a:r>
            <a:endParaRPr b="1" sz="3500"/>
          </a:p>
        </p:txBody>
      </p:sp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Place circle on one corner of inner rectangle, add dimension and hit enter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Place circle on second corner. Use equal constraint to constrain size to other circle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Cntrl + Z until only first circle remains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Create &gt; Rectangular Pattern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circle, select line to indicate direction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Enter distance (extent) and quantity (total including original)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Press OK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Repeat to make two more circles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Cntrl + Z until only two circles remain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Select line tool, select construction type</a:t>
            </a:r>
            <a:endParaRPr sz="14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Hover over midpoint of inner rectangle and create a centerline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Select mirror tool, select circles, define mirror line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/>
              <a:t>Example: Draw a rectangle with mounting holes for a cover plate</a:t>
            </a:r>
            <a:endParaRPr b="1" sz="3500"/>
          </a:p>
        </p:txBody>
      </p:sp>
      <p:sp>
        <p:nvSpPr>
          <p:cNvPr id="154" name="Google Shape;154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400">
                <a:solidFill>
                  <a:schemeClr val="dk1"/>
                </a:solidFill>
              </a:rPr>
              <a:t>Create a circle inside each corner of main rectangle w/o touching lines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Create tangent </a:t>
            </a:r>
            <a:r>
              <a:rPr lang="en" sz="1400">
                <a:solidFill>
                  <a:schemeClr val="dk1"/>
                </a:solidFill>
              </a:rPr>
              <a:t>constraint</a:t>
            </a:r>
            <a:r>
              <a:rPr lang="en" sz="1400">
                <a:solidFill>
                  <a:schemeClr val="dk1"/>
                </a:solidFill>
              </a:rPr>
              <a:t> for each circle to each line of the corners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Dimension each circle to 2mm or use equal constraint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Use trim tool to trim corner off and inside of circle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Cntrl + Z until circles are gone. Count steps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" sz="1400">
                <a:solidFill>
                  <a:schemeClr val="dk1"/>
                </a:solidFill>
              </a:rPr>
              <a:t>Open filet tool, select first corner, enter dimension (2mm), add remaining corners, hit enter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 Videos</a:t>
            </a:r>
            <a:endParaRPr/>
          </a:p>
        </p:txBody>
      </p:sp>
      <p:sp>
        <p:nvSpPr>
          <p:cNvPr id="160" name="Google Shape;160;p30"/>
          <p:cNvSpPr txBox="1"/>
          <p:nvPr>
            <p:ph idx="1" type="body"/>
          </p:nvPr>
        </p:nvSpPr>
        <p:spPr>
          <a:xfrm>
            <a:off x="446225" y="1222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Fusion 360 in 30 Days Video Tutorial Series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Day 1, Lego Brick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Day 2, Soda Bottle</a:t>
            </a:r>
            <a:r>
              <a:rPr lang="en"/>
              <a:t>; (</a:t>
            </a:r>
            <a:r>
              <a:rPr lang="en"/>
              <a:t>Image is in Google Classroom, Unit 2; or download it from the comments section of the video</a:t>
            </a: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6"/>
              </a:rPr>
              <a:t>Day 3, Paperclip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7"/>
              </a:rPr>
              <a:t>Day 4, Square Bottle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Ultimaker Cura	</a:t>
            </a:r>
            <a:endParaRPr/>
          </a:p>
        </p:txBody>
      </p:sp>
      <p:sp>
        <p:nvSpPr>
          <p:cNvPr id="166" name="Google Shape;166;p31"/>
          <p:cNvSpPr txBox="1"/>
          <p:nvPr>
            <p:ph idx="1" type="body"/>
          </p:nvPr>
        </p:nvSpPr>
        <p:spPr>
          <a:xfrm>
            <a:off x="90100" y="11408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https://www.youtube.com/watch?v=7lJmkTSoWLc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172" name="Google Shape;17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6788" y="1193450"/>
            <a:ext cx="7210425" cy="246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81800"/>
            <a:ext cx="8839201" cy="344548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3"/>
          <p:cNvSpPr/>
          <p:nvPr/>
        </p:nvSpPr>
        <p:spPr>
          <a:xfrm>
            <a:off x="7723425" y="1742500"/>
            <a:ext cx="1166400" cy="5727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0" name="Google Shape;180;p33"/>
          <p:cNvCxnSpPr>
            <a:endCxn id="179" idx="1"/>
          </p:cNvCxnSpPr>
          <p:nvPr/>
        </p:nvCxnSpPr>
        <p:spPr>
          <a:xfrm>
            <a:off x="5367525" y="2022250"/>
            <a:ext cx="2355900" cy="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2738" y="1170500"/>
            <a:ext cx="5062726" cy="3233646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sp>
        <p:nvSpPr>
          <p:cNvPr id="187" name="Google Shape;187;p34"/>
          <p:cNvSpPr/>
          <p:nvPr/>
        </p:nvSpPr>
        <p:spPr>
          <a:xfrm>
            <a:off x="3055775" y="2372325"/>
            <a:ext cx="1751700" cy="18660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8" name="Google Shape;188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05596" y="4556921"/>
            <a:ext cx="6534300" cy="5727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34"/>
          <p:cNvCxnSpPr/>
          <p:nvPr/>
        </p:nvCxnSpPr>
        <p:spPr>
          <a:xfrm>
            <a:off x="1635150" y="4886650"/>
            <a:ext cx="2355900" cy="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0" name="Google Shape;190;p34"/>
          <p:cNvSpPr txBox="1"/>
          <p:nvPr/>
        </p:nvSpPr>
        <p:spPr>
          <a:xfrm>
            <a:off x="5110850" y="2617225"/>
            <a:ext cx="5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1</a:t>
            </a:r>
            <a:endParaRPr sz="2400">
              <a:solidFill>
                <a:srgbClr val="FF0000"/>
              </a:solidFill>
            </a:endParaRPr>
          </a:p>
        </p:txBody>
      </p:sp>
      <p:sp>
        <p:nvSpPr>
          <p:cNvPr id="191" name="Google Shape;191;p34"/>
          <p:cNvSpPr txBox="1"/>
          <p:nvPr/>
        </p:nvSpPr>
        <p:spPr>
          <a:xfrm>
            <a:off x="994500" y="4603600"/>
            <a:ext cx="5364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FF0000"/>
                </a:solidFill>
              </a:rPr>
              <a:t>2</a:t>
            </a:r>
            <a:endParaRPr sz="24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1516" y="445025"/>
            <a:ext cx="5196284" cy="454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sp>
        <p:nvSpPr>
          <p:cNvPr id="198" name="Google Shape;198;p35"/>
          <p:cNvSpPr/>
          <p:nvPr/>
        </p:nvSpPr>
        <p:spPr>
          <a:xfrm>
            <a:off x="3489650" y="1999075"/>
            <a:ext cx="2332800" cy="244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6"/>
              </a:highlight>
            </a:endParaRPr>
          </a:p>
        </p:txBody>
      </p:sp>
      <p:pic>
        <p:nvPicPr>
          <p:cNvPr id="199" name="Google Shape;19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170125"/>
            <a:ext cx="3139125" cy="119286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0" name="Google Shape;200;p35"/>
          <p:cNvCxnSpPr/>
          <p:nvPr/>
        </p:nvCxnSpPr>
        <p:spPr>
          <a:xfrm>
            <a:off x="5635675" y="4751625"/>
            <a:ext cx="2355900" cy="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206" name="Google Shape;20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0275" y="936850"/>
            <a:ext cx="4978349" cy="43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36"/>
          <p:cNvCxnSpPr/>
          <p:nvPr/>
        </p:nvCxnSpPr>
        <p:spPr>
          <a:xfrm>
            <a:off x="4107800" y="5043200"/>
            <a:ext cx="2355900" cy="660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 - Select Basic Settings Visibility</a:t>
            </a:r>
            <a:endParaRPr/>
          </a:p>
        </p:txBody>
      </p:sp>
      <p:pic>
        <p:nvPicPr>
          <p:cNvPr id="213" name="Google Shape;21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00" y="1099950"/>
            <a:ext cx="7443665" cy="3820974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37"/>
          <p:cNvSpPr/>
          <p:nvPr/>
        </p:nvSpPr>
        <p:spPr>
          <a:xfrm>
            <a:off x="7647150" y="2153700"/>
            <a:ext cx="434400" cy="2583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7"/>
          <p:cNvSpPr/>
          <p:nvPr/>
        </p:nvSpPr>
        <p:spPr>
          <a:xfrm>
            <a:off x="6977775" y="2717375"/>
            <a:ext cx="1103700" cy="176100"/>
          </a:xfrm>
          <a:prstGeom prst="rect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221" name="Google Shape;22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4525893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227" name="Google Shape;22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88" y="1017725"/>
            <a:ext cx="4987286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Configuring Cura</a:t>
            </a:r>
            <a:endParaRPr/>
          </a:p>
        </p:txBody>
      </p:sp>
      <p:pic>
        <p:nvPicPr>
          <p:cNvPr id="233" name="Google Shape;23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3926139" cy="382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 Model from Fusion 360 for 3D Printing</a:t>
            </a:r>
            <a:endParaRPr/>
          </a:p>
        </p:txBody>
      </p:sp>
      <p:pic>
        <p:nvPicPr>
          <p:cNvPr id="239" name="Google Shape;23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17725"/>
            <a:ext cx="2307424" cy="382097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41"/>
          <p:cNvSpPr/>
          <p:nvPr/>
        </p:nvSpPr>
        <p:spPr>
          <a:xfrm>
            <a:off x="730425" y="3797725"/>
            <a:ext cx="1667400" cy="1761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1"/>
          <p:cNvSpPr/>
          <p:nvPr/>
        </p:nvSpPr>
        <p:spPr>
          <a:xfrm>
            <a:off x="236950" y="1135150"/>
            <a:ext cx="787200" cy="666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41"/>
          <p:cNvSpPr txBox="1"/>
          <p:nvPr/>
        </p:nvSpPr>
        <p:spPr>
          <a:xfrm>
            <a:off x="3630975" y="1135150"/>
            <a:ext cx="4074900" cy="23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Select 3D Print from the File menu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1849" y="1017713"/>
            <a:ext cx="6220076" cy="3788359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Export Model from Fusion 360 for 3D Printing</a:t>
            </a:r>
            <a:endParaRPr/>
          </a:p>
        </p:txBody>
      </p:sp>
      <p:sp>
        <p:nvSpPr>
          <p:cNvPr id="249" name="Google Shape;249;p42"/>
          <p:cNvSpPr/>
          <p:nvPr/>
        </p:nvSpPr>
        <p:spPr>
          <a:xfrm>
            <a:off x="7424025" y="1683950"/>
            <a:ext cx="939300" cy="25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42"/>
          <p:cNvSpPr/>
          <p:nvPr/>
        </p:nvSpPr>
        <p:spPr>
          <a:xfrm>
            <a:off x="7424025" y="2442600"/>
            <a:ext cx="939300" cy="258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42"/>
          <p:cNvSpPr txBox="1"/>
          <p:nvPr/>
        </p:nvSpPr>
        <p:spPr>
          <a:xfrm>
            <a:off x="5122350" y="1730925"/>
            <a:ext cx="4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</a:rPr>
              <a:t>1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252" name="Google Shape;252;p42"/>
          <p:cNvSpPr txBox="1"/>
          <p:nvPr/>
        </p:nvSpPr>
        <p:spPr>
          <a:xfrm>
            <a:off x="8515875" y="1526750"/>
            <a:ext cx="4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</a:rPr>
              <a:t>2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253" name="Google Shape;253;p42"/>
          <p:cNvSpPr txBox="1"/>
          <p:nvPr/>
        </p:nvSpPr>
        <p:spPr>
          <a:xfrm>
            <a:off x="8456875" y="2285400"/>
            <a:ext cx="4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</a:rPr>
              <a:t>3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254" name="Google Shape;254;p42"/>
          <p:cNvSpPr txBox="1"/>
          <p:nvPr/>
        </p:nvSpPr>
        <p:spPr>
          <a:xfrm>
            <a:off x="448600" y="1402125"/>
            <a:ext cx="2125500" cy="3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Click on your model to select it.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Ensure preparation type is set to Export.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Select OBJ format.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Click OK. Set filename and path in next window.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5" name="Google Shape;255;p42"/>
          <p:cNvSpPr txBox="1"/>
          <p:nvPr/>
        </p:nvSpPr>
        <p:spPr>
          <a:xfrm>
            <a:off x="7001325" y="3926650"/>
            <a:ext cx="4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</a:rPr>
              <a:t>4</a:t>
            </a:r>
            <a:endParaRPr b="1" sz="26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STL vs OBJ File Format</a:t>
            </a:r>
            <a:endParaRPr/>
          </a:p>
        </p:txBody>
      </p:sp>
      <p:sp>
        <p:nvSpPr>
          <p:cNvPr id="261" name="Google Shape;26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STL (</a:t>
            </a:r>
            <a:r>
              <a:rPr b="1" lang="en" sz="2100" u="sng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Standard Tessellation Language</a:t>
            </a:r>
            <a:r>
              <a:rPr b="1" lang="en" sz="2100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)</a:t>
            </a:r>
            <a:r>
              <a:rPr lang="en" sz="21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files store a 3D object's surface geometry using a mesh of triangles, making them ideal for simple 3D printing but lacking color or texture data. </a:t>
            </a:r>
            <a:endParaRPr sz="2100">
              <a:solidFill>
                <a:srgbClr val="001D35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2100">
                <a:solidFill>
                  <a:srgbClr val="FF0000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OBJ (Wavefront Object)</a:t>
            </a:r>
            <a:r>
              <a:rPr lang="en" sz="2100">
                <a:solidFill>
                  <a:srgbClr val="001D35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files are more versatile, supporting various polygon shapes, and can also include color, texture, and material information, though this requires a separate MTL file. The best format depends on the application: use STL for basic 3D printing, and OBJ for rendering, detailed geometry, or models with color and texture.  </a:t>
            </a:r>
            <a:endParaRPr sz="27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Importing File to Cura</a:t>
            </a:r>
            <a:endParaRPr/>
          </a:p>
        </p:txBody>
      </p:sp>
      <p:pic>
        <p:nvPicPr>
          <p:cNvPr id="267" name="Google Shape;26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498" y="1085075"/>
            <a:ext cx="6246849" cy="4058424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44"/>
          <p:cNvSpPr/>
          <p:nvPr/>
        </p:nvSpPr>
        <p:spPr>
          <a:xfrm>
            <a:off x="613500" y="1308175"/>
            <a:ext cx="552000" cy="4698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44"/>
          <p:cNvSpPr txBox="1"/>
          <p:nvPr/>
        </p:nvSpPr>
        <p:spPr>
          <a:xfrm>
            <a:off x="84550" y="1256725"/>
            <a:ext cx="4227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FF0000"/>
                </a:solidFill>
              </a:rPr>
              <a:t>1</a:t>
            </a:r>
            <a:endParaRPr b="1" sz="2600">
              <a:solidFill>
                <a:srgbClr val="FF0000"/>
              </a:solidFill>
            </a:endParaRPr>
          </a:p>
        </p:txBody>
      </p:sp>
      <p:sp>
        <p:nvSpPr>
          <p:cNvPr id="270" name="Google Shape;270;p44"/>
          <p:cNvSpPr txBox="1"/>
          <p:nvPr/>
        </p:nvSpPr>
        <p:spPr>
          <a:xfrm>
            <a:off x="425100" y="2130200"/>
            <a:ext cx="2736300" cy="23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Click on the file folder icon.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AutoNum type="arabicPeriod"/>
            </a:pPr>
            <a:r>
              <a:rPr lang="en" sz="1800">
                <a:solidFill>
                  <a:schemeClr val="dk2"/>
                </a:solidFill>
              </a:rPr>
              <a:t>Select your file.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1750" y="1017725"/>
            <a:ext cx="6313803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Parts for Printing in Ultimaker Cura</a:t>
            </a:r>
            <a:endParaRPr/>
          </a:p>
        </p:txBody>
      </p:sp>
      <p:sp>
        <p:nvSpPr>
          <p:cNvPr id="277" name="Google Shape;277;p45"/>
          <p:cNvSpPr/>
          <p:nvPr/>
        </p:nvSpPr>
        <p:spPr>
          <a:xfrm>
            <a:off x="2257550" y="2259350"/>
            <a:ext cx="552000" cy="1092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45"/>
          <p:cNvSpPr txBox="1"/>
          <p:nvPr/>
        </p:nvSpPr>
        <p:spPr>
          <a:xfrm>
            <a:off x="190250" y="1237725"/>
            <a:ext cx="1926000" cy="36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Use the toolbar on the left to activate tools to manipulate your model. Orient the model to optimize print strength, build plate adhesion, and to reduce the need for supports.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57600" y="561300"/>
            <a:ext cx="3222850" cy="4375424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Slicing Parts for Printing in Ultimaker Cura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6"/>
          <p:cNvSpPr txBox="1"/>
          <p:nvPr/>
        </p:nvSpPr>
        <p:spPr>
          <a:xfrm>
            <a:off x="190250" y="1237725"/>
            <a:ext cx="4673700" cy="3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Right click on the build plate to access other options.</a:t>
            </a:r>
            <a:endParaRPr sz="2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Parts for Printing in Ultimaker Cura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47"/>
          <p:cNvSpPr txBox="1"/>
          <p:nvPr/>
        </p:nvSpPr>
        <p:spPr>
          <a:xfrm>
            <a:off x="190250" y="1237725"/>
            <a:ext cx="4673700" cy="3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Right click and hold to rotate the model to examine all aspects. Ensure the surface touching the build plate is cyan. Red parts indicate areas that may require supports.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292" name="Google Shape;292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16350" y="1170125"/>
            <a:ext cx="3375937" cy="38209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7" name="Google Shape;297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3475" y="1919000"/>
            <a:ext cx="3188124" cy="303320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Parts for Printing in Ultimaker Cura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8"/>
          <p:cNvSpPr txBox="1"/>
          <p:nvPr/>
        </p:nvSpPr>
        <p:spPr>
          <a:xfrm>
            <a:off x="190250" y="1237725"/>
            <a:ext cx="4673700" cy="3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Slice the part and click on the preview button to examine the sliced part. Notice time and material estimates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300" name="Google Shape;300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3688775"/>
            <a:ext cx="3975251" cy="113065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36475" y="901100"/>
            <a:ext cx="3095828" cy="1130650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8"/>
          <p:cNvSpPr/>
          <p:nvPr/>
        </p:nvSpPr>
        <p:spPr>
          <a:xfrm>
            <a:off x="5967875" y="1566550"/>
            <a:ext cx="951300" cy="4113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085125"/>
            <a:ext cx="6554165" cy="33114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Parts for Printing in Ultimaker Cura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49"/>
          <p:cNvSpPr txBox="1"/>
          <p:nvPr/>
        </p:nvSpPr>
        <p:spPr>
          <a:xfrm>
            <a:off x="311700" y="4469825"/>
            <a:ext cx="8627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Use sliders on bottom and right slide to examine layers.</a:t>
            </a:r>
            <a:endParaRPr sz="2600">
              <a:solidFill>
                <a:schemeClr val="dk2"/>
              </a:solidFill>
            </a:endParaRPr>
          </a:p>
        </p:txBody>
      </p:sp>
      <p:sp>
        <p:nvSpPr>
          <p:cNvPr id="310" name="Google Shape;310;p49"/>
          <p:cNvSpPr/>
          <p:nvPr/>
        </p:nvSpPr>
        <p:spPr>
          <a:xfrm>
            <a:off x="2268775" y="3973825"/>
            <a:ext cx="2055000" cy="4227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9"/>
          <p:cNvSpPr/>
          <p:nvPr/>
        </p:nvSpPr>
        <p:spPr>
          <a:xfrm>
            <a:off x="6613500" y="1625025"/>
            <a:ext cx="305700" cy="20082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Slicing Parts for Printing in Ultimaker Cura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0"/>
          <p:cNvSpPr txBox="1"/>
          <p:nvPr/>
        </p:nvSpPr>
        <p:spPr>
          <a:xfrm>
            <a:off x="311700" y="3765225"/>
            <a:ext cx="8627100" cy="125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600">
                <a:solidFill>
                  <a:schemeClr val="dk2"/>
                </a:solidFill>
              </a:rPr>
              <a:t>Insert thumb drive into your computer. “Save to Disk” changes to “Save to Removable Drive” after a moment. Click to save and remove your drive.</a:t>
            </a:r>
            <a:endParaRPr sz="2600">
              <a:solidFill>
                <a:schemeClr val="dk2"/>
              </a:solidFill>
            </a:endParaRPr>
          </a:p>
        </p:txBody>
      </p:sp>
      <p:pic>
        <p:nvPicPr>
          <p:cNvPr id="318" name="Google Shape;318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6915450" cy="251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3" name="Google Shape;323;p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17500" y="285900"/>
            <a:ext cx="2910383" cy="486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Tutorial Videos Week of 9-22-25</a:t>
            </a:r>
            <a:endParaRPr/>
          </a:p>
        </p:txBody>
      </p:sp>
      <p:sp>
        <p:nvSpPr>
          <p:cNvPr id="325" name="Google Shape;325;p51"/>
          <p:cNvSpPr txBox="1"/>
          <p:nvPr>
            <p:ph idx="1" type="body"/>
          </p:nvPr>
        </p:nvSpPr>
        <p:spPr>
          <a:xfrm>
            <a:off x="446225" y="1222925"/>
            <a:ext cx="4723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Fusion 360 in 30 Days Video Tutorial Series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Monday: </a:t>
            </a:r>
            <a:r>
              <a:rPr lang="en" u="sng">
                <a:solidFill>
                  <a:schemeClr val="hlink"/>
                </a:solidFill>
                <a:hlinkClick r:id="rId5"/>
              </a:rPr>
              <a:t>Day 6, Hex Nut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Tuesday: 3D Print ½” Hex Nut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Wednesday: </a:t>
            </a:r>
            <a:r>
              <a:rPr lang="en" u="sng">
                <a:solidFill>
                  <a:schemeClr val="accent5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 7, Bicycle Grip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Thursday: </a:t>
            </a:r>
            <a:r>
              <a:rPr lang="en" u="sng">
                <a:solidFill>
                  <a:schemeClr val="accent5"/>
                </a:solidFill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 8, Door Stop</a:t>
            </a:r>
            <a:r>
              <a:rPr lang="en"/>
              <a:t>, Learning Check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Friday: Shop/Classroom 5S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51"/>
          <p:cNvSpPr/>
          <p:nvPr/>
        </p:nvSpPr>
        <p:spPr>
          <a:xfrm>
            <a:off x="5817500" y="285900"/>
            <a:ext cx="2970900" cy="4865400"/>
          </a:xfrm>
          <a:prstGeom prst="rect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51"/>
          <p:cNvSpPr/>
          <p:nvPr/>
        </p:nvSpPr>
        <p:spPr>
          <a:xfrm>
            <a:off x="3854100" y="2259375"/>
            <a:ext cx="1655700" cy="206700"/>
          </a:xfrm>
          <a:prstGeom prst="rightArrow">
            <a:avLst>
              <a:gd fmla="val 50000" name="adj1"/>
              <a:gd fmla="val 50000" name="adj2"/>
            </a:avLst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"/>
              <a:t>Tutorial Videos Week of 9-29-25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52"/>
          <p:cNvSpPr txBox="1"/>
          <p:nvPr>
            <p:ph idx="1" type="body"/>
          </p:nvPr>
        </p:nvSpPr>
        <p:spPr>
          <a:xfrm>
            <a:off x="446225" y="12229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Fusion 360 in 30 Days Video Tutorial Series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Monday: </a:t>
            </a:r>
            <a:r>
              <a:rPr lang="en" u="sng">
                <a:solidFill>
                  <a:schemeClr val="accent5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Day 9, Light Bulb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Tuesday: </a:t>
            </a:r>
            <a:r>
              <a:rPr lang="en" u="sng">
                <a:solidFill>
                  <a:schemeClr val="hlink"/>
                </a:solidFill>
                <a:hlinkClick r:id="rId5"/>
              </a:rPr>
              <a:t>Day 10, Phone Case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Wednesday: </a:t>
            </a:r>
            <a:r>
              <a:rPr lang="en" u="sng">
                <a:solidFill>
                  <a:schemeClr val="hlink"/>
                </a:solidFill>
                <a:hlinkClick r:id="rId6"/>
              </a:rPr>
              <a:t>Day 11, Dog Bowl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Thursday: </a:t>
            </a:r>
            <a:r>
              <a:rPr lang="en" u="sng">
                <a:solidFill>
                  <a:schemeClr val="hlink"/>
                </a:solidFill>
                <a:hlinkClick r:id="rId7"/>
              </a:rPr>
              <a:t>Day 13, Components and Assembly Structure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53" title="image.jpg (1)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